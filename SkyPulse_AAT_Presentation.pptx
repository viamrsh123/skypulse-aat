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11ee6569-8bef-676b-5d1e-f572b09ed6e3}">
          <p14:sldIdLst>
            <p14:sldId id="256"/>
          </p14:sldIdLst>
        </p14:section>
        <p14:section name="Introduction" id="{a698ef3c-56a6-e7bf-c085-961356b1d516}">
          <p14:sldIdLst>
            <p14:sldId id="257"/>
          </p14:sldIdLst>
        </p14:section>
        <p14:section name="Summary" id="{a17df14c-73b3-e300-0737-aef0835d8134}">
          <p14:sldIdLst>
            <p14:sldId id="258"/>
            <p14:sldId id="259"/>
          </p14:sldIdLst>
        </p14:section>
        <p14:section name="Plans" id="{48157bc2-56a8-44a7-0519-8757362b5744}">
          <p14:sldIdLst>
            <p14:sldId id="260"/>
            <p14:sldId id="261"/>
            <p14:sldId id="262"/>
            <p14:sldId id="263"/>
            <p14:sldId id="264"/>
            <p14:sldId id="265"/>
          </p14:sldIdLst>
        </p14:section>
        <p14:section name="Conclusion" id="{6c0c716d-5815-2044-5442-cc7f9abcafb6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324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324F"/>
                </a:solidFill>
                <a:latin typeface="+mn-lt"/>
              </a:rPr>
              <a:t>Sales forecast: revenue, ₹ lakh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lakh)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221</c:v>
                </c:pt>
                <c:pt idx="1">
                  <c:v>574</c:v>
                </c:pt>
                <c:pt idx="2">
                  <c:v>1154</c:v>
                </c:pt>
                <c:pt idx="3">
                  <c:v>1899</c:v>
                </c:pt>
                <c:pt idx="4">
                  <c:v>2978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B9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B9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Shareholding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6324F"/>
              </a:solidFill>
              <a:effectLst/>
            </c:spPr>
          </c:dPt>
          <c:dPt>
            <c:idx val="1"/>
            <c:bubble3D val="0"/>
            <c:spPr>
              <a:solidFill>
                <a:srgbClr val="2E6DB4"/>
              </a:solidFill>
              <a:effectLst/>
            </c:spPr>
          </c:dPt>
          <c:dPt>
            <c:idx val="2"/>
            <c:bubble3D val="0"/>
            <c:spPr>
              <a:solidFill>
                <a:srgbClr val="E4572E"/>
              </a:solidFill>
              <a:effectLst/>
            </c:spPr>
          </c:dPt>
          <c:dPt>
            <c:idx val="3"/>
            <c:bubble3D val="0"/>
            <c:spPr>
              <a:solidFill>
                <a:srgbClr val="F2B134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Founders</c:v>
                </c:pt>
                <c:pt idx="1">
                  <c:v>Seed</c:v>
                </c:pt>
                <c:pt idx="2">
                  <c:v>Pre-Series A</c:v>
                </c:pt>
                <c:pt idx="3">
                  <c:v>ESOP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62.6</c:v>
                </c:pt>
                <c:pt idx="1">
                  <c:v>17.4</c:v>
                </c:pt>
                <c:pt idx="2">
                  <c:v>13</c:v>
                </c:pt>
                <c:pt idx="3">
                  <c:v>7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6324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6324F"/>
                </a:solidFill>
                <a:latin typeface="+mn-lt"/>
              </a:rPr>
              <a:t>Revenue and net profit, ₹ lakh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221</c:v>
                </c:pt>
                <c:pt idx="1">
                  <c:v>574</c:v>
                </c:pt>
                <c:pt idx="2">
                  <c:v>1154</c:v>
                </c:pt>
                <c:pt idx="3">
                  <c:v>1899</c:v>
                </c:pt>
                <c:pt idx="4">
                  <c:v>2978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Net profit (PAT)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-104</c:v>
                </c:pt>
                <c:pt idx="1">
                  <c:v>-30</c:v>
                </c:pt>
                <c:pt idx="2">
                  <c:v>141</c:v>
                </c:pt>
                <c:pt idx="3">
                  <c:v>342</c:v>
                </c:pt>
                <c:pt idx="4">
                  <c:v>695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F29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A8B9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7A8B9C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 (template format). Replace the red Name/USN placeholders with team details. Presenter: Member 1 introduces the team and topic.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1. Open with the problem: the golden hour. Rural PHCs lack blood banks and run out of ASV. Road transfer takes 1–4 hours. Evidence: Rwanda's Zipline cut blood delivery to a 41-minute median. Introduce SkyPulse in one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1. Walk through the four-step flow, under 35 minutes from order to delivery. Explain the hub-and-spoke model and the three revenue streams.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2. Market size and growth; Karnataka's 2,138 PHCs as delivery points. Competitors focus on urban or parcel delivery, leaving rural emergency delivery open. Close with the four advantages.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2. SkyPulse is a service business: we buy certified drones (import ban since 2022) and build the cold-chain pod and software in-house. Describe the hub and the Year-1 capex of ₹272 lakh.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3. Walk through the 8-step flow. Highlight the technology stack and the KPIs we commit 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3. Primary customer is the public health system; private hospitals and labs pay faster and give us case studies. Explain the 4Ps and the revenue forecast from ₹2.2 Cr to ₹29.8 Cr.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4. Org structure: Board, then CEO, then CTO / COO / CFO, plus hub teams. We are a Pvt Ltd company with DPIIT recognition. Founders keep 62.6% after two rounds.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4. Top five risks with likelihood, impact and mitigation. The stress tests re-ran the Excel model: even with 20% lower utilisation or 15% lower prices, cash never goes negative.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Member 4. Estimates were built in a formula-driven Excel model (SkyPulse_Financial_Model.xlsx) covering P&amp;L, cash flow, balance sheet, break-even, NPV/IRR and sensitivity. Revenue grows from ₹221 L to ₹2,978 L; PAT turns positive in Y3; IRR 74% including terminal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members. Recap the four takeaways and state the ask. Thank the faculty and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jp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jp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MSCE Titl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viamrsh/motion-studio/AAT_SkyPulse/assets/bmsce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9728"/>
            <a:ext cx="960120" cy="9509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MSCE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viamrsh/motion-studio/AAT_SkyPulse/assets/bmsce_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137160"/>
            <a:ext cx="777240" cy="76809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1097280" y="182880"/>
            <a:ext cx="106070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4" name="Text 0"/>
          <p:cNvSpPr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SkyPulse | Management and Entrepreneurship (23CS7PCMNE) | Dept. of CSE, BMSCE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011680" y="228600"/>
            <a:ext cx="859536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B.M.S. College of  Engineering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691640"/>
            <a:ext cx="1069848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AAT on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</a:t>
            </a:r>
            <a:pPr algn="ctr" indent="0" marL="0">
              <a:buNone/>
            </a:pPr>
            <a:r>
              <a:rPr lang="en-US" sz="24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SkyPulse: Drone-Based Emergency Medicine Delivery</a:t>
            </a:r>
            <a:pPr algn="ctr"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400" dirty="0"/>
          </a:p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course</a:t>
            </a:r>
            <a:endParaRPr lang="en-US" sz="2400" dirty="0"/>
          </a:p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and Entrepreneurship-23CS7PCMNE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645920" y="4206240"/>
            <a:ext cx="4114800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u="sng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			USN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			USN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			USN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			USN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355080" y="4206240"/>
            <a:ext cx="47548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u="sng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 Handling Faculty: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Radhika A D, Asst. Professor.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CSE, BMSCE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097280" y="1828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Introduction: the golden-hour gap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1124712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rural patient needs blood or anti-venom, the medicine is often 40–120 km away by road. SkyPulse closes that gap by air.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2011680"/>
            <a:ext cx="356616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2402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6244" y="2365004"/>
            <a:ext cx="317480" cy="3174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85800" y="2880360"/>
            <a:ext cx="31089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~50,000</a:t>
            </a:r>
            <a:endParaRPr lang="en-US" sz="44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657600"/>
            <a:ext cx="3154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snakebite deaths a year in India; Karnataka logged 13,235 cases in 2024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79392" y="2011680"/>
            <a:ext cx="356616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53712" y="2240280"/>
            <a:ext cx="566928" cy="56692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8436" y="236500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07992" y="2880360"/>
            <a:ext cx="31089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</a:t>
            </a:r>
            <a:endParaRPr lang="en-US" sz="4400" dirty="0"/>
          </a:p>
        </p:txBody>
      </p:sp>
      <p:sp>
        <p:nvSpPr>
          <p:cNvPr id="13" name="Text 9"/>
          <p:cNvSpPr txBox="1"/>
          <p:nvPr/>
        </p:nvSpPr>
        <p:spPr>
          <a:xfrm>
            <a:off x="4507992" y="3657600"/>
            <a:ext cx="3154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Karnataka 108 calls met the 30-min target (CAG audit); delays of 56–80 min seen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101584" y="2011680"/>
            <a:ext cx="356616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375904" y="224028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0628" y="2365004"/>
            <a:ext cx="317480" cy="317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30184" y="2880360"/>
            <a:ext cx="310896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min</a:t>
            </a:r>
            <a:endParaRPr lang="en-US" sz="4400" dirty="0"/>
          </a:p>
        </p:txBody>
      </p:sp>
      <p:sp>
        <p:nvSpPr>
          <p:cNvPr id="18" name="Text 13"/>
          <p:cNvSpPr txBox="1"/>
          <p:nvPr/>
        </p:nvSpPr>
        <p:spPr>
          <a:xfrm>
            <a:off x="8330184" y="3657600"/>
            <a:ext cx="31546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drone blood delivery in Rwanda vs 2+ hours by road (Lancet Glob Health 2022)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457200" y="4800600"/>
            <a:ext cx="11247120" cy="1371600"/>
          </a:xfrm>
          <a:prstGeom prst="roundRect">
            <a:avLst>
              <a:gd name="adj" fmla="val 53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31520" y="5120640"/>
            <a:ext cx="685800" cy="68580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396" y="527151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645920" y="4937760"/>
            <a:ext cx="97840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SkyPulse Aero Health Pvt. Ltd. </a:t>
            </a:r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 drone-as-a-service network. It flies blood, anti-snake venom, drugs, vaccines and lab samples between Karnataka's district hospitals, PHCs and private hospitals in 15–30 minutes, with a verified cold chain.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097280" y="1828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Summary of the business plan (1/2): how SkyPulse works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256032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3716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0524" y="1496324"/>
            <a:ext cx="317480" cy="3174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417320"/>
            <a:ext cx="1600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Order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103120"/>
            <a:ext cx="21945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 orders via app, WhatsApp or toll-free IVR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072384" y="2103120"/>
            <a:ext cx="164592" cy="27432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291840" y="1188720"/>
            <a:ext cx="256032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20440" y="13716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5164" y="1496324"/>
            <a:ext cx="317480" cy="317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206240" y="1417320"/>
            <a:ext cx="1600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Pack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520440" y="2103120"/>
            <a:ext cx="21945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pharmacist packs a 2–8 °C cold-chain pod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5907024" y="2103120"/>
            <a:ext cx="164592" cy="27432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26480" y="1188720"/>
            <a:ext cx="256032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55080" y="13716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804" y="1496324"/>
            <a:ext cx="317480" cy="31748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040880" y="1417320"/>
            <a:ext cx="1600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Fly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6355080" y="2103120"/>
            <a:ext cx="21945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VTOL drone, 5 kg, 80–100 km/h, NPNT-cleared route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8741664" y="2103120"/>
            <a:ext cx="164592" cy="274320"/>
          </a:xfrm>
          <a:prstGeom prst="chevron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961120" y="1188720"/>
            <a:ext cx="256032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189720" y="1371600"/>
            <a:ext cx="566928" cy="56692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4444" y="1496324"/>
            <a:ext cx="317480" cy="3174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875520" y="1417320"/>
            <a:ext cx="1600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Deliver</a:t>
            </a:r>
            <a:endParaRPr lang="en-US" sz="2000" dirty="0"/>
          </a:p>
        </p:txBody>
      </p:sp>
      <p:sp>
        <p:nvSpPr>
          <p:cNvPr id="25" name="Text 19"/>
          <p:cNvSpPr txBox="1"/>
          <p:nvPr/>
        </p:nvSpPr>
        <p:spPr>
          <a:xfrm>
            <a:off x="9189720" y="2103120"/>
            <a:ext cx="21945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Parachute drop / landing, OTP handover, temp log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457200" y="3154680"/>
            <a:ext cx="112471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Hub-and-spoke: one hub per district hospital serves every facility within 40 km</a:t>
            </a:r>
            <a:endParaRPr lang="en-US" sz="1600" dirty="0"/>
          </a:p>
        </p:txBody>
      </p:sp>
      <p:sp>
        <p:nvSpPr>
          <p:cNvPr id="27" name="Text 21"/>
          <p:cNvSpPr txBox="1"/>
          <p:nvPr/>
        </p:nvSpPr>
        <p:spPr>
          <a:xfrm>
            <a:off x="457200" y="3703320"/>
            <a:ext cx="548640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2200" dirty="0"/>
          </a:p>
        </p:txBody>
      </p:sp>
      <p:sp>
        <p:nvSpPr>
          <p:cNvPr id="28" name="Shape 22"/>
          <p:cNvSpPr/>
          <p:nvPr/>
        </p:nvSpPr>
        <p:spPr>
          <a:xfrm>
            <a:off x="457200" y="425196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685800" y="4389120"/>
            <a:ext cx="32004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₹1,400 / ₹500</a:t>
            </a:r>
            <a:endParaRPr lang="en-US" sz="2800" dirty="0"/>
          </a:p>
        </p:txBody>
      </p:sp>
      <p:sp>
        <p:nvSpPr>
          <p:cNvPr id="30" name="Text 24"/>
          <p:cNvSpPr txBox="1"/>
          <p:nvPr/>
        </p:nvSpPr>
        <p:spPr>
          <a:xfrm>
            <a:off x="685800" y="5120640"/>
            <a:ext cx="32004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emergency / scheduled delivery</a:t>
            </a:r>
            <a:endParaRPr lang="en-US" sz="1500" dirty="0"/>
          </a:p>
        </p:txBody>
      </p:sp>
      <p:sp>
        <p:nvSpPr>
          <p:cNvPr id="31" name="Shape 25"/>
          <p:cNvSpPr/>
          <p:nvPr/>
        </p:nvSpPr>
        <p:spPr>
          <a:xfrm>
            <a:off x="4279392" y="425196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4507992" y="4389120"/>
            <a:ext cx="32004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₹25,000 / month</a:t>
            </a:r>
            <a:endParaRPr lang="en-US" sz="2800" dirty="0"/>
          </a:p>
        </p:txBody>
      </p:sp>
      <p:sp>
        <p:nvSpPr>
          <p:cNvPr id="33" name="Text 27"/>
          <p:cNvSpPr txBox="1"/>
          <p:nvPr/>
        </p:nvSpPr>
        <p:spPr>
          <a:xfrm>
            <a:off x="4507992" y="5120640"/>
            <a:ext cx="32004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subscription with guaranteed SLA + dashboard</a:t>
            </a:r>
            <a:endParaRPr lang="en-US" sz="1500" dirty="0"/>
          </a:p>
        </p:txBody>
      </p:sp>
      <p:sp>
        <p:nvSpPr>
          <p:cNvPr id="34" name="Shape 28"/>
          <p:cNvSpPr/>
          <p:nvPr/>
        </p:nvSpPr>
        <p:spPr>
          <a:xfrm>
            <a:off x="8101584" y="4251960"/>
            <a:ext cx="3566160" cy="1691640"/>
          </a:xfrm>
          <a:prstGeom prst="roundRect">
            <a:avLst>
              <a:gd name="adj" fmla="val 4324"/>
            </a:avLst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8330184" y="4389120"/>
            <a:ext cx="320040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₹36 lakh / year</a:t>
            </a:r>
            <a:endParaRPr lang="en-US" sz="2800" dirty="0"/>
          </a:p>
        </p:txBody>
      </p:sp>
      <p:sp>
        <p:nvSpPr>
          <p:cNvPr id="36" name="Text 30"/>
          <p:cNvSpPr txBox="1"/>
          <p:nvPr/>
        </p:nvSpPr>
        <p:spPr>
          <a:xfrm>
            <a:off x="8330184" y="5120640"/>
            <a:ext cx="320040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contract with NHM for PHC resupply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097280" y="1828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Summary of the business plan (2/2): market and edge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4206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61872"/>
            <a:ext cx="38404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$0.47B → $1.39B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3840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drone market 2025→2030 (CAGR 24.4%)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560320"/>
            <a:ext cx="4206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2633472"/>
            <a:ext cx="38404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50.4%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200400"/>
            <a:ext cx="3840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of India delivery drones to 2030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3931920"/>
            <a:ext cx="4206240" cy="118872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4005072"/>
            <a:ext cx="384048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2,138</a:t>
            </a:r>
            <a:endParaRPr lang="en-US" sz="30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572000"/>
            <a:ext cx="38404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PHCs in Karnataka: our delivery points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188720"/>
          <a:ext cx="66751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2560320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SkyPulse fills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Airbound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Urban lab samples (Narayana)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rural emergency / ASV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Skye Air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Parcel + health logistics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cold-chain govt SLA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TSAW / Redwing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Pilots; North-East terrain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scaled in Karnataka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Road / 108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Substitute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1–4 hrs, ₹2,902 per round trip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5029200" y="3657600"/>
            <a:ext cx="64008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SkyPulse wins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5029200" y="4114800"/>
            <a:ext cx="667512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15–30 min vs 1–4 hours by road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delivery falls to ₹740 vs ₹2,902 by road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2–8 °C cold chain with temperature log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tailwind: Drone Rules 2021, PLI, Drone Shakti, BVLOS by end-2026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097280" y="1828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Production plan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6035040" cy="914400"/>
        </p:xfrm>
        <a:graphic>
          <a:graphicData uri="http://schemas.openxmlformats.org/drawingml/2006/table">
            <a:tbl>
              <a:tblPr/>
              <a:tblGrid>
                <a:gridCol w="4480560"/>
                <a:gridCol w="1554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 / Buy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VTOL drone (DGCA type-certified, Indian OEM)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Cold-chain payload pod + IoT logger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SkyPulse Command software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Hub civil works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Subcontract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Overhaul (C-checks)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OEM AMC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114800"/>
            <a:ext cx="603504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hub (at a district hospital)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526280"/>
            <a:ext cx="6035040" cy="1645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landing pads, charging &amp; fire-rated battery room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2–8 °C pharmacy fridge, packing bay, ground control station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drones · 3 pilots · 2 technicians · 1 manager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858000" y="1188720"/>
            <a:ext cx="22860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99516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kg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6995160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326880" y="1188720"/>
            <a:ext cx="22860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464040" y="1280160"/>
            <a:ext cx="20116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km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9464040" y="1920240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round-trip range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858000" y="2606040"/>
            <a:ext cx="22860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95160" y="2697480"/>
            <a:ext cx="20116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80–100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6995160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km/h cruise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9326880" y="2606040"/>
            <a:ext cx="2286000" cy="1234440"/>
          </a:xfrm>
          <a:prstGeom prst="roundRect">
            <a:avLst>
              <a:gd name="adj" fmla="val 592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464040" y="2697480"/>
            <a:ext cx="201168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 L</a:t>
            </a:r>
            <a:endParaRPr lang="en-US" sz="3000" dirty="0"/>
          </a:p>
        </p:txBody>
      </p:sp>
      <p:sp>
        <p:nvSpPr>
          <p:cNvPr id="17" name="Text 14"/>
          <p:cNvSpPr txBox="1"/>
          <p:nvPr/>
        </p:nvSpPr>
        <p:spPr>
          <a:xfrm>
            <a:off x="9464040" y="3337560"/>
            <a:ext cx="20116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drone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858000" y="4114800"/>
            <a:ext cx="4754880" cy="2057400"/>
          </a:xfrm>
          <a:prstGeom prst="roundRect">
            <a:avLst>
              <a:gd name="adj" fmla="val 3556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086600" y="4206240"/>
            <a:ext cx="43891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Year-1 capex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086600" y="4572000"/>
            <a:ext cx="43891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₹272 lakh</a:t>
            </a:r>
            <a:endParaRPr 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7086600" y="5349240"/>
            <a:ext cx="43891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drones ₹168 L · 2 hubs ₹44 L · platform ₹60 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097280" y="1828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Operations plan: order to delivery in under 35 minutes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26060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148132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07008" y="1325880"/>
            <a:ext cx="17830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(app / WhatsApp / IVR)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6060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29000" y="148132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4041648" y="1325880"/>
            <a:ext cx="17830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Pharmacist verifies (3 min)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126480" y="1234440"/>
            <a:ext cx="26060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48132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876288" y="1325880"/>
            <a:ext cx="17830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 cold-chain pod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961120" y="1234440"/>
            <a:ext cx="2606040" cy="100584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098280" y="1481328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098280" y="148132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9710928" y="1325880"/>
            <a:ext cx="17830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Pre-flight + Digital Sky NPNT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57200" y="246888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271576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2715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07008" y="2560320"/>
            <a:ext cx="17830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15–25 min, live GCS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291840" y="246888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29000" y="271576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29000" y="2715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041648" y="2560320"/>
            <a:ext cx="17830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+ OTP handover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26480" y="246888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63640" y="271576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263640" y="2715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876288" y="2560320"/>
            <a:ext cx="17830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battery swap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961120" y="2468880"/>
            <a:ext cx="2606040" cy="1005840"/>
          </a:xfrm>
          <a:prstGeom prst="roundRect">
            <a:avLst>
              <a:gd name="adj" fmla="val 7273"/>
            </a:avLst>
          </a:prstGeom>
          <a:solidFill>
            <a:srgbClr val="FDECE7"/>
          </a:solidFill>
          <a:ln w="12700">
            <a:solidFill>
              <a:srgbClr val="FDECE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098280" y="2715768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098280" y="271576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9710928" y="2560320"/>
            <a:ext cx="1783080" cy="822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Auto-billing + HMIS record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457200" y="3840480"/>
            <a:ext cx="5486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2000" dirty="0"/>
          </a:p>
        </p:txBody>
      </p:sp>
      <p:sp>
        <p:nvSpPr>
          <p:cNvPr id="36" name="Text 34"/>
          <p:cNvSpPr txBox="1"/>
          <p:nvPr/>
        </p:nvSpPr>
        <p:spPr>
          <a:xfrm>
            <a:off x="457200" y="4251960"/>
            <a:ext cx="5669280" cy="20116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 Digital Sky: UIN, Remote Pilot Certificate, NPNT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 engine + multi-drop route optimiser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demand forecast (monsoon snakebite peaks)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4G telemetry; APIs to 108, e-Raktkosh, HMIS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35 min</a:t>
            </a:r>
            <a:endParaRPr lang="en-US" sz="26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0" y="4416552"/>
            <a:ext cx="2560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order-to-delivery (95%)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909828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99.5%</a:t>
            </a:r>
            <a:endParaRPr lang="en-US" sz="2600" dirty="0"/>
          </a:p>
        </p:txBody>
      </p:sp>
      <p:sp>
        <p:nvSpPr>
          <p:cNvPr id="40" name="Text 38"/>
          <p:cNvSpPr txBox="1"/>
          <p:nvPr/>
        </p:nvSpPr>
        <p:spPr>
          <a:xfrm>
            <a:off x="9098280" y="4416552"/>
            <a:ext cx="2560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success rate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400800" y="5074920"/>
            <a:ext cx="2560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42" name="Text 40"/>
          <p:cNvSpPr txBox="1"/>
          <p:nvPr/>
        </p:nvSpPr>
        <p:spPr>
          <a:xfrm>
            <a:off x="6400800" y="5605272"/>
            <a:ext cx="2560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 within 2–8 °C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9098280" y="5074920"/>
            <a:ext cx="256032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days</a:t>
            </a:r>
            <a:endParaRPr lang="en-US" sz="2600" dirty="0"/>
          </a:p>
        </p:txBody>
      </p:sp>
      <p:sp>
        <p:nvSpPr>
          <p:cNvPr id="44" name="Text 42"/>
          <p:cNvSpPr txBox="1"/>
          <p:nvPr/>
        </p:nvSpPr>
        <p:spPr>
          <a:xfrm>
            <a:off x="9098280" y="5605272"/>
            <a:ext cx="25603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shifts, 6 am–10 pm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097280" y="1828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Marketing plan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97280"/>
            <a:ext cx="1124712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i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Positioning: the medical drone network that delivers blood and life-saving medicine in under 30 minutes with a verified cold chain, cheaper than road.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1920240"/>
            <a:ext cx="3154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210312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2734" y="2215774"/>
            <a:ext cx="286756" cy="28675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2121408"/>
            <a:ext cx="21945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743200"/>
            <a:ext cx="28346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· LabLink · Resupply · Priority SLA on one platform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794760" y="1920240"/>
            <a:ext cx="3154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977640" y="2103120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294" y="2215774"/>
            <a:ext cx="286756" cy="28675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7720" y="2121408"/>
            <a:ext cx="21945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3977640" y="2743200"/>
            <a:ext cx="28346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₹1,400 emergency, ₹500 scheduled, ₹25k/month subscription, ₹36 L district contract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57200" y="4114800"/>
            <a:ext cx="3154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4297680"/>
            <a:ext cx="512064" cy="512064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2734" y="4410334"/>
            <a:ext cx="286756" cy="2867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80160" y="4315968"/>
            <a:ext cx="21945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</a:t>
            </a:r>
            <a:endParaRPr lang="en-US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640080" y="4937760"/>
            <a:ext cx="28346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NHM tenders &amp; GeM (B2G); direct sales to hospital chains &amp; labs (B2B)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3794760" y="4114800"/>
            <a:ext cx="3154680" cy="201168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977640" y="4297680"/>
            <a:ext cx="512064" cy="51206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0294" y="4410334"/>
            <a:ext cx="286756" cy="286756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4617720" y="4315968"/>
            <a:ext cx="219456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3977640" y="4937760"/>
            <a:ext cx="2834640" cy="11430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flights for DHOs, CME talks, case-study videos, press at milestones</a:t>
            </a:r>
            <a:endParaRPr lang="en-US" sz="14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7269480" y="1874520"/>
          <a:ext cx="448056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097280" y="1828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Organizational plan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2834640" y="1143000"/>
            <a:ext cx="256032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2926080" y="1188720"/>
            <a:ext cx="23774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of Directors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CEO, CTO, investor nominee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114800" y="2011680"/>
            <a:ext cx="914" cy="228600"/>
          </a:xfrm>
          <a:prstGeom prst="line">
            <a:avLst/>
          </a:prstGeom>
          <a:noFill/>
          <a:ln w="15875">
            <a:solidFill>
              <a:srgbClr val="7A8B9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34640" y="2240280"/>
            <a:ext cx="256032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26080" y="2286000"/>
            <a:ext cx="237744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CEO: AAAA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Strategy, funding, govt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114800" y="3108960"/>
            <a:ext cx="914" cy="228600"/>
          </a:xfrm>
          <a:prstGeom prst="line">
            <a:avLst/>
          </a:prstGeom>
          <a:noFill/>
          <a:ln w="15875">
            <a:solidFill>
              <a:srgbClr val="7A8B9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54480" y="3337560"/>
            <a:ext cx="5120640" cy="914"/>
          </a:xfrm>
          <a:prstGeom prst="line">
            <a:avLst/>
          </a:prstGeom>
          <a:noFill/>
          <a:ln w="15875">
            <a:solidFill>
              <a:srgbClr val="7A8B9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54480" y="3337560"/>
            <a:ext cx="914" cy="228600"/>
          </a:xfrm>
          <a:prstGeom prst="line">
            <a:avLst/>
          </a:prstGeom>
          <a:noFill/>
          <a:ln w="15875">
            <a:solidFill>
              <a:srgbClr val="7A8B9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3566160"/>
            <a:ext cx="21945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3611880"/>
            <a:ext cx="20116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CTO: BBBB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IoT, security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114800" y="3337560"/>
            <a:ext cx="914" cy="228600"/>
          </a:xfrm>
          <a:prstGeom prst="line">
            <a:avLst/>
          </a:prstGeom>
          <a:noFill/>
          <a:ln w="15875">
            <a:solidFill>
              <a:srgbClr val="7A8B9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17520" y="3566160"/>
            <a:ext cx="21945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108960" y="3611880"/>
            <a:ext cx="20116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COO: CCCC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Hubs, pilots, DGCA safety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675120" y="3337560"/>
            <a:ext cx="914" cy="228600"/>
          </a:xfrm>
          <a:prstGeom prst="line">
            <a:avLst/>
          </a:prstGeom>
          <a:noFill/>
          <a:ln w="15875">
            <a:solidFill>
              <a:srgbClr val="7A8B9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77840" y="3566160"/>
            <a:ext cx="219456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69280" y="3611880"/>
            <a:ext cx="201168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32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CFO: DDDD</a:t>
            </a:r>
            <a:endParaRPr lang="en-US" sz="16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Finance, tenders, sales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4617720"/>
            <a:ext cx="694944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teams (×14 by Y5): manager · 3 pilots · 2 technicians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5029200"/>
            <a:ext cx="694944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board: public-health physician, DGCA flight instructor, CA, BMSCE faculty mentor</a:t>
            </a:r>
            <a:endParaRPr lang="en-US" sz="15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Staff: 26 (Y1) → 108 (Y5)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863840" y="1143000"/>
            <a:ext cx="3840480" cy="5074920"/>
          </a:xfrm>
          <a:prstGeom prst="roundRect">
            <a:avLst>
              <a:gd name="adj" fmla="val 1905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92440" y="1280160"/>
            <a:ext cx="3474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 of ownership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092440" y="1691640"/>
            <a:ext cx="347472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Limited Company (Companies Act 2013), DPIIT-recognised startup: limited liability, equity funding, SISFS and 80-IAC benefits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092440" y="3063240"/>
            <a:ext cx="347472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Shareholding after Pre-Series A</a:t>
            </a:r>
            <a:endParaRPr lang="en-US" sz="16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8001000" y="3474720"/>
          <a:ext cx="3611880" cy="2697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097280" y="1828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Risk assessment</a:t>
            </a:r>
            <a:endParaRPr lang="en-US" sz="3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73152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143000"/>
                <a:gridCol w="960120"/>
                <a:gridCol w="2834640"/>
              </a:tblGrid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324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BVLOS / corridor approval delay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VLOS routes; ICMR / state pilot corridors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Drone crash / technical failure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Type-certified drones, parachute, geofence, insurance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Monsoon grounds flights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Weather-aware scheduling; road-courier fallback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Cold-chain breach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3E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temperature alarms, quarantine SOP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 government payments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subscriptions; ₹2 Cr+ cash buffer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092440" y="1188720"/>
            <a:ext cx="3611880" cy="4983480"/>
          </a:xfrm>
          <a:prstGeom prst="roundRect">
            <a:avLst>
              <a:gd name="adj" fmla="val 2025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8321040" y="1325880"/>
            <a:ext cx="32004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Stress test (model re-run)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8321040" y="1783080"/>
            <a:ext cx="3200400" cy="3017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Utilisation -20%: Y5 PAT ₹452 L, lowest cash ₹228 L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-15%: Y5 PAT ₹438 L, lowest cash ₹226 L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cost +30%: Y5 PAT ₹642 L, lowest cash ₹198 L</a:t>
            </a:r>
            <a:endParaRPr lang="en-US" sz="1400" dirty="0"/>
          </a:p>
          <a:p>
            <a:pPr marL="190500" indent="-1905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Govt contracts delayed 1 yr: Y5 PAT ₹644 L, lowest cash ₹215 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321040" y="4983480"/>
            <a:ext cx="3200400" cy="1051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cash-positive and profitable from Y3 in every scenario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097280" y="1828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Financial plan (estimated with Excel model)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365760" y="1097280"/>
          <a:ext cx="6766560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Shape 1"/>
          <p:cNvSpPr/>
          <p:nvPr/>
        </p:nvSpPr>
        <p:spPr>
          <a:xfrm>
            <a:off x="7406640" y="1097280"/>
            <a:ext cx="4297680" cy="1161288"/>
          </a:xfrm>
          <a:prstGeom prst="roundRect">
            <a:avLst>
              <a:gd name="adj" fmla="val 62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589520" y="1170432"/>
            <a:ext cx="40233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₹11.7 Cr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1691640"/>
            <a:ext cx="40233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funding: ₹50 L founders, ₹20 L SISFS grant, ₹5 Cr seed, ₹6 Cr Pre-Series A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406640" y="2395728"/>
            <a:ext cx="4297680" cy="1161288"/>
          </a:xfrm>
          <a:prstGeom prst="roundRect">
            <a:avLst>
              <a:gd name="adj" fmla="val 6299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0" y="2468880"/>
            <a:ext cx="40233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3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589520" y="2990088"/>
            <a:ext cx="40233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&amp; profit: PAT ₹141 L, 23% margin of safety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06640" y="3694176"/>
            <a:ext cx="4297680" cy="1161288"/>
          </a:xfrm>
          <a:prstGeom prst="roundRect">
            <a:avLst>
              <a:gd name="adj" fmla="val 62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589520" y="3767328"/>
            <a:ext cx="40233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74% IRR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7589520" y="4288536"/>
            <a:ext cx="40233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₹12.3 Cr @ 18%; cash payback in Y5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406640" y="4992624"/>
            <a:ext cx="4297680" cy="1161288"/>
          </a:xfrm>
          <a:prstGeom prst="roundRect">
            <a:avLst>
              <a:gd name="adj" fmla="val 62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589520" y="5065776"/>
            <a:ext cx="40233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₹1,644 → ₹740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7589520" y="5586984"/>
            <a:ext cx="402336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per delivery Y1 → Y5 vs ₹2,902 by road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title" hasCustomPrompt="1"/>
          </p:nvPr>
        </p:nvSpPr>
        <p:spPr>
          <a:xfrm>
            <a:off x="1097280" y="1828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458" y="1420978"/>
            <a:ext cx="358445" cy="358445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417320" y="1188720"/>
            <a:ext cx="5669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the golden hour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417320" y="1600200"/>
            <a:ext cx="5669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Blood, ASV and drugs in 15–30 min instead of 1–4 hours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2359152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458" y="2499970"/>
            <a:ext cx="358445" cy="35844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417320" y="2267712"/>
            <a:ext cx="5669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Commercially viable</a:t>
            </a:r>
            <a:endParaRPr lang="en-US" sz="2000" dirty="0"/>
          </a:p>
        </p:txBody>
      </p:sp>
      <p:sp>
        <p:nvSpPr>
          <p:cNvPr id="10" name="Text 6"/>
          <p:cNvSpPr txBox="1"/>
          <p:nvPr/>
        </p:nvSpPr>
        <p:spPr>
          <a:xfrm>
            <a:off x="1417320" y="2679192"/>
            <a:ext cx="5669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₹29.8 Cr revenue by Y5, profitable from Y3, cash-positive throughout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3438144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58" y="3578962"/>
            <a:ext cx="358445" cy="358445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17320" y="3346704"/>
            <a:ext cx="5669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time, low risk</a:t>
            </a:r>
            <a:endParaRPr lang="en-US" sz="2000" dirty="0"/>
          </a:p>
        </p:txBody>
      </p:sp>
      <p:sp>
        <p:nvSpPr>
          <p:cNvPr id="14" name="Text 9"/>
          <p:cNvSpPr txBox="1"/>
          <p:nvPr/>
        </p:nvSpPr>
        <p:spPr>
          <a:xfrm>
            <a:off x="1417320" y="3758184"/>
            <a:ext cx="5669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 Rules 2021, PLI, Drone Shakti; survives every stress test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548640" y="4517136"/>
            <a:ext cx="640080" cy="64008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9458" y="4657954"/>
            <a:ext cx="358445" cy="358445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17320" y="4425696"/>
            <a:ext cx="56692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</a:t>
            </a:r>
            <a:endParaRPr lang="en-US" sz="2000" dirty="0"/>
          </a:p>
        </p:txBody>
      </p:sp>
      <p:sp>
        <p:nvSpPr>
          <p:cNvPr id="18" name="Text 12"/>
          <p:cNvSpPr txBox="1"/>
          <p:nvPr/>
        </p:nvSpPr>
        <p:spPr>
          <a:xfrm>
            <a:off x="1417320" y="4837176"/>
            <a:ext cx="56692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→ 14 Karnataka hubs; model ready for other states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7498080" y="1188720"/>
            <a:ext cx="4206240" cy="3429000"/>
          </a:xfrm>
          <a:prstGeom prst="roundRect">
            <a:avLst>
              <a:gd name="adj" fmla="val 2133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20" name="Text 14"/>
          <p:cNvSpPr txBox="1"/>
          <p:nvPr/>
        </p:nvSpPr>
        <p:spPr>
          <a:xfrm>
            <a:off x="7726680" y="1371600"/>
            <a:ext cx="3749040" cy="2103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8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 Cr seed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launch 2 hubs and 12 drones in Chikkaballapur &amp; Kolar and prove the model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7726680" y="3657600"/>
            <a:ext cx="374904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2B1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· Questions?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548640" y="5623560"/>
            <a:ext cx="11155680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chemeClr val="accent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SkyPulse: no patient in Karnataka should die waiting for blood or medicine.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A8B9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kyPulse AAT">
  <a:themeElements>
    <a:clrScheme name="SkyPulse AAT">
      <a:dk1>
        <a:srgbClr val="1F2933"/>
      </a:dk1>
      <a:lt1>
        <a:srgbClr val="FFFFFF"/>
      </a:lt1>
      <a:dk2>
        <a:srgbClr val="16324F"/>
      </a:dk2>
      <a:lt2>
        <a:srgbClr val="EEF3F8"/>
      </a:lt2>
      <a:accent1>
        <a:srgbClr val="2E6DB4"/>
      </a:accent1>
      <a:accent2>
        <a:srgbClr val="E4572E"/>
      </a:accent2>
      <a:accent3>
        <a:srgbClr val="16324F"/>
      </a:accent3>
      <a:accent4>
        <a:srgbClr val="7A8B9C"/>
      </a:accent4>
      <a:accent5>
        <a:srgbClr val="F2B134"/>
      </a:accent5>
      <a:accent6>
        <a:srgbClr val="3C9D6E"/>
      </a:accent6>
      <a:hlink>
        <a:srgbClr val="2E6DB4"/>
      </a:hlink>
      <a:folHlink>
        <a:srgbClr val="6D2E46"/>
      </a:folHlink>
    </a:clrScheme>
    <a:fontScheme name="SkyPulse AA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SkyPulse: Drone-Based Emergency Medicine Delivery</dc:title>
  <dc:subject>PptxGenJS Presentation</dc:subject>
  <dc:creator>PptxGenJS</dc:creator>
  <cp:lastModifiedBy>PptxGenJS</cp:lastModifiedBy>
  <cp:revision>1</cp:revision>
  <dcterms:created xsi:type="dcterms:W3CDTF">2026-10-13T11:36:12Z</dcterms:created>
  <dcterms:modified xsi:type="dcterms:W3CDTF">2026-10-13T11:36:12Z</dcterms:modified>
</cp:coreProperties>
</file>